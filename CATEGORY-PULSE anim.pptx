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Marcellus" panose="020B0604020202020204" charset="0"/>
      <p:regular r:id="rId13"/>
    </p:embeddedFont>
    <p:embeddedFont>
      <p:font typeface="Montserrat" pitchFamily="2" charset="0"/>
      <p:regular r:id="rId14"/>
      <p:bold r:id="rId15"/>
      <p:italic r:id="rId16"/>
      <p:boldItalic r:id="rId17"/>
    </p:embeddedFont>
    <p:embeddedFont>
      <p:font typeface="Montserrat Bold" pitchFamily="2" charset="0"/>
      <p:regular r:id="rId18"/>
      <p:bold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31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33388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EC8A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4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sp>
        <p:nvSpPr>
          <p:cNvPr id="3" name="Shape 0"/>
          <p:cNvSpPr/>
          <p:nvPr/>
        </p:nvSpPr>
        <p:spPr>
          <a:xfrm>
            <a:off x="5233360" y="2186285"/>
            <a:ext cx="3699080" cy="287139"/>
          </a:xfrm>
          <a:prstGeom prst="roundRect">
            <a:avLst>
              <a:gd name="adj" fmla="val 22118"/>
            </a:avLst>
          </a:prstGeom>
          <a:solidFill>
            <a:srgbClr val="FFE0CC"/>
          </a:solidFill>
          <a:ln/>
        </p:spPr>
      </p:sp>
      <p:sp>
        <p:nvSpPr>
          <p:cNvPr id="4" name="Text 1"/>
          <p:cNvSpPr/>
          <p:nvPr/>
        </p:nvSpPr>
        <p:spPr>
          <a:xfrm>
            <a:off x="5346765" y="2242939"/>
            <a:ext cx="4081856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CALIBO AI ACADEMY | MUC01 | JAN–JUN 2026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233360" y="2549029"/>
            <a:ext cx="6296860" cy="706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4250" kern="0" spc="-4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CATEGORY PULSE</a:t>
            </a:r>
            <a:endParaRPr lang="en-US" sz="4250" dirty="0"/>
          </a:p>
        </p:txBody>
      </p:sp>
      <p:sp>
        <p:nvSpPr>
          <p:cNvPr id="6" name="Text 3"/>
          <p:cNvSpPr/>
          <p:nvPr/>
        </p:nvSpPr>
        <p:spPr>
          <a:xfrm>
            <a:off x="5233360" y="3331071"/>
            <a:ext cx="6296860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Retail Product Performance EDA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233360" y="3967758"/>
            <a:ext cx="6296860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From transaction data to supplier-review decisions</a:t>
            </a:r>
            <a:endParaRPr lang="en-US" sz="145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450" i="1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Team: Naishadh Vytla · Nakul  Sriraj · Sushmitha · Adi Seshu</a:t>
            </a:r>
            <a:endParaRPr lang="en-US" sz="145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DEDC67-099B-D23C-A175-FE0193FD98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19807"/>
            <a:ext cx="1109139" cy="143470"/>
          </a:xfrm>
          <a:prstGeom prst="roundRect">
            <a:avLst>
              <a:gd name="adj" fmla="val 22134"/>
            </a:avLst>
          </a:prstGeom>
          <a:noFill/>
          <a:ln w="635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8127" y="548084"/>
            <a:ext cx="1605418" cy="869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5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BUSINESS QUESTION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661475" y="682129"/>
            <a:ext cx="10868745" cy="353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100" kern="0" spc="-21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SUPPLIER-REVIEW PROBLEM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1475" y="1106190"/>
            <a:ext cx="10868745" cy="1843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regional retail chain operates 12 stores across six Andhra Pradesh cities and five product categories. The Category Manager is entering a quarterly supplier review where suppliers will argue for shelf space and promotional investment.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803156" y="1396702"/>
            <a:ext cx="11336649" cy="921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1000"/>
              </a:lnSpc>
              <a:buNone/>
            </a:pPr>
            <a:r>
              <a:rPr lang="en-US" sz="9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"Which categories are growing or declining, which products drive category performance, and is the discount ladder actually working?"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61475" y="1343620"/>
            <a:ext cx="12700" cy="198338"/>
          </a:xfrm>
          <a:prstGeom prst="roundRect">
            <a:avLst>
              <a:gd name="adj" fmla="val 49999"/>
            </a:avLst>
          </a:prstGeom>
          <a:solidFill>
            <a:srgbClr val="FF954F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648123"/>
            <a:ext cx="5133355" cy="513348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217487" y="3216729"/>
            <a:ext cx="5319083" cy="1183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CBIM framework anchors every analytical step to a single validated dataset and a clear supplier-review outcome.</a:t>
            </a: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736EBEC-01B8-F2B2-0073-7F5C7F6D80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5923"/>
            <a:ext cx="1111222" cy="242292"/>
          </a:xfrm>
          <a:prstGeom prst="roundRect">
            <a:avLst>
              <a:gd name="adj" fmla="val 22117"/>
            </a:avLst>
          </a:prstGeom>
          <a:noFill/>
          <a:ln w="1270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7119" y="603746"/>
            <a:ext cx="1529518" cy="146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&amp; TRUST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851991"/>
            <a:ext cx="10868745" cy="596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00" kern="0" spc="-36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ONE SOURCE OF TRUTH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61475" y="1729482"/>
            <a:ext cx="5350237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kern="0" spc="-4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107,836</a:t>
            </a:r>
            <a:endParaRPr lang="en-US" sz="4100" dirty="0"/>
          </a:p>
        </p:txBody>
      </p:sp>
      <p:sp>
        <p:nvSpPr>
          <p:cNvPr id="6" name="Text 4"/>
          <p:cNvSpPr/>
          <p:nvPr/>
        </p:nvSpPr>
        <p:spPr>
          <a:xfrm>
            <a:off x="661475" y="2436416"/>
            <a:ext cx="5350237" cy="29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Transactions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61475" y="2815134"/>
            <a:ext cx="5350237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Jan–Jun 2026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9884" y="1729482"/>
            <a:ext cx="5350336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kern="0" spc="-4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₹459.8M</a:t>
            </a:r>
            <a:endParaRPr lang="en-US" sz="4100" dirty="0"/>
          </a:p>
        </p:txBody>
      </p:sp>
      <p:sp>
        <p:nvSpPr>
          <p:cNvPr id="9" name="Text 7"/>
          <p:cNvSpPr/>
          <p:nvPr/>
        </p:nvSpPr>
        <p:spPr>
          <a:xfrm>
            <a:off x="6179884" y="2436416"/>
            <a:ext cx="5350336" cy="29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Total Revenue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179884" y="2815134"/>
            <a:ext cx="5350336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Analyzed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1475" y="3354884"/>
            <a:ext cx="5350237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kern="0" spc="-4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12</a:t>
            </a:r>
            <a:endParaRPr lang="en-US" sz="4100" dirty="0"/>
          </a:p>
        </p:txBody>
      </p:sp>
      <p:sp>
        <p:nvSpPr>
          <p:cNvPr id="12" name="Text 10"/>
          <p:cNvSpPr/>
          <p:nvPr/>
        </p:nvSpPr>
        <p:spPr>
          <a:xfrm>
            <a:off x="661475" y="4061817"/>
            <a:ext cx="5350237" cy="29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Stores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1475" y="4440535"/>
            <a:ext cx="5350237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Across 6 cities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179884" y="3354884"/>
            <a:ext cx="5350336" cy="5263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100" kern="0" spc="-41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5</a:t>
            </a:r>
            <a:endParaRPr lang="en-US" sz="4100" dirty="0"/>
          </a:p>
        </p:txBody>
      </p:sp>
      <p:sp>
        <p:nvSpPr>
          <p:cNvPr id="15" name="Text 13"/>
          <p:cNvSpPr/>
          <p:nvPr/>
        </p:nvSpPr>
        <p:spPr>
          <a:xfrm>
            <a:off x="6179884" y="4061817"/>
            <a:ext cx="5350336" cy="29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Categories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79884" y="4440535"/>
            <a:ext cx="5350336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 products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1475" y="4917380"/>
            <a:ext cx="5239810" cy="298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Data Quality Confirmed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1475" y="5349974"/>
            <a:ext cx="5239810" cy="905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missing values or duplicate transaction IDs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formula validated for 100% of rows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Continuous date coverage: Jan 1–Jun 30, 2026</a:t>
            </a:r>
            <a:endParaRPr lang="en-US" sz="1250" dirty="0"/>
          </a:p>
          <a:p>
            <a:pPr marL="254000" indent="-254000" algn="l">
              <a:lnSpc>
                <a:spcPct val="100000"/>
              </a:lnSpc>
              <a:buSzPct val="100000"/>
              <a:buChar char="•"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One validated DataFrame used for all downstream analysis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96760" y="4934148"/>
            <a:ext cx="5239810" cy="894655"/>
          </a:xfrm>
          <a:prstGeom prst="roundRect">
            <a:avLst>
              <a:gd name="adj" fmla="val 7487"/>
            </a:avLst>
          </a:prstGeom>
          <a:solidFill>
            <a:srgbClr val="FFE0CC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6201" y="5121275"/>
            <a:ext cx="199325" cy="159445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814967" y="5094982"/>
            <a:ext cx="4562162" cy="572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Why this matters:</a:t>
            </a: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Every chart and recommendation traces back to the same validated transaction-level dataset.</a:t>
            </a:r>
            <a:endParaRPr lang="en-US" sz="12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7FFD7F4-8CA3-438A-4A52-42364F214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54137"/>
            <a:ext cx="1827663" cy="264616"/>
          </a:xfrm>
          <a:prstGeom prst="roundRect">
            <a:avLst>
              <a:gd name="adj" fmla="val 22126"/>
            </a:avLst>
          </a:prstGeom>
          <a:noFill/>
          <a:ln w="1270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5950" y="606326"/>
            <a:ext cx="2228298" cy="1602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EXECUTIVE SNAPSHOT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82948"/>
            <a:ext cx="10868745" cy="6511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900" kern="0" spc="-39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FIVE NUMBERS TELL THE STORY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661475" y="1862138"/>
            <a:ext cx="3489039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4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₹459.8M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661475" y="2644775"/>
            <a:ext cx="348903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Total Revenue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661475" y="3066752"/>
            <a:ext cx="3489039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Full six-month period analyzed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351229" y="1862138"/>
            <a:ext cx="3489138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4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−₹15.5M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4351229" y="2644775"/>
            <a:ext cx="348913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Monthly Revenue Change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4351229" y="3066752"/>
            <a:ext cx="3489138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 ₹84.8M → Jun ₹69.3M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041082" y="1862138"/>
            <a:ext cx="3489138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4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−35%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8041082" y="2644775"/>
            <a:ext cx="348913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Electronics Momentum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8041082" y="3066752"/>
            <a:ext cx="3489138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 ₹45.7M → Jun ₹29.7M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2506302" y="3692723"/>
            <a:ext cx="3489138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4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+34%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2506302" y="4475361"/>
            <a:ext cx="348913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Apparel Momentum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506302" y="4897338"/>
            <a:ext cx="3489138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Jan ₹10.0M → Jun ₹13.5M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96155" y="3692723"/>
            <a:ext cx="3489138" cy="575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4500" kern="0" spc="-45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2.58</a:t>
            </a:r>
            <a:endParaRPr lang="en-US" sz="4500" dirty="0"/>
          </a:p>
        </p:txBody>
      </p:sp>
      <p:sp>
        <p:nvSpPr>
          <p:cNvPr id="18" name="Text 16"/>
          <p:cNvSpPr/>
          <p:nvPr/>
        </p:nvSpPr>
        <p:spPr>
          <a:xfrm>
            <a:off x="6196155" y="4475361"/>
            <a:ext cx="3489138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8000"/>
              </a:lnSpc>
              <a:buNone/>
            </a:pPr>
            <a:r>
              <a:rPr lang="en-US" sz="1950" kern="0" spc="-20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Units Per Transaction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6196155" y="4897338"/>
            <a:ext cx="3489138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Flat across 0% → 20% discount range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61475" y="5295602"/>
            <a:ext cx="10868745" cy="609898"/>
          </a:xfrm>
          <a:prstGeom prst="roundRect">
            <a:avLst>
              <a:gd name="adj" fmla="val 12000"/>
            </a:avLst>
          </a:prstGeom>
          <a:solidFill>
            <a:srgbClr val="FFE0CC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99" y="5506045"/>
            <a:ext cx="217780" cy="17422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227702" y="5499795"/>
            <a:ext cx="10737879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Revenue pressure is concentrated, not broad-based.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661475" y="6086177"/>
            <a:ext cx="11478330" cy="217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MUC01 Retail Sales Dataset | Jan–Jun 2026</a:t>
            </a:r>
            <a:endParaRPr lang="en-US" sz="13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49586A5-21EE-7A16-34B0-61A6C0768B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14474"/>
            <a:ext cx="909317" cy="161429"/>
          </a:xfrm>
          <a:prstGeom prst="roundRect">
            <a:avLst>
              <a:gd name="adj" fmla="val 22130"/>
            </a:avLst>
          </a:prstGeom>
          <a:noFill/>
          <a:ln w="635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5172" y="746323"/>
            <a:ext cx="1391508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 PULSE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899815"/>
            <a:ext cx="10868745" cy="397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0" spc="-24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ELECTRONICS IS THE REVENUE ENGINE — AND THE MAIN SOURCE OF DECLINE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54150"/>
            <a:ext cx="5304697" cy="38184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339854"/>
            <a:ext cx="5914282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MUC01 Retail Sales Dataset | Jan–Jun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231873" y="1446609"/>
            <a:ext cx="5304697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-12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Monthly Revenue Trend: Electronics vs. Apparel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31873" y="1704975"/>
            <a:ext cx="530469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Electronics declined </a:t>
            </a:r>
            <a:r>
              <a:rPr lang="en-US" sz="800" b="1" dirty="0">
                <a:solidFill>
                  <a:srgbClr val="CC5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−35%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while Apparel grew </a:t>
            </a: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+34%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over the same period. The divergence is stark and consistent.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873" y="1988145"/>
            <a:ext cx="5304697" cy="38184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31873" y="5873849"/>
            <a:ext cx="530469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Electronics: ₹226.5M — 49.3% of total chain revenue.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The largest category is also the steepest decline.</a:t>
            </a:r>
            <a:endParaRPr lang="en-US" sz="8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656459B-7E9D-4728-EF46-088AFE3005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66948"/>
            <a:ext cx="1612860" cy="246856"/>
          </a:xfrm>
          <a:prstGeom prst="roundRect">
            <a:avLst>
              <a:gd name="adj" fmla="val 22110"/>
            </a:avLst>
          </a:prstGeom>
          <a:noFill/>
          <a:ln w="1270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8905" y="715665"/>
            <a:ext cx="2027584" cy="1494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 OF DECLINE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969566"/>
            <a:ext cx="10868745" cy="6071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650" kern="0" spc="-37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THE CHAIN DECLINE IS AN ELECTRONICS PROBLEM</a:t>
            </a:r>
            <a:endParaRPr lang="en-US" sz="3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943001"/>
            <a:ext cx="5236238" cy="376912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869087"/>
            <a:ext cx="5845823" cy="1962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MUC01 Retail Sales Dataset | Jan–Jun 2026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300332" y="1925538"/>
            <a:ext cx="5236238" cy="30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00" kern="0" spc="-18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Monthly Revenue Contribution Change: Jan → Jun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300332" y="2368451"/>
            <a:ext cx="5236238" cy="1106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Electronics alone lost </a:t>
            </a:r>
            <a:r>
              <a:rPr lang="en-US" sz="1250" b="1" dirty="0">
                <a:solidFill>
                  <a:srgbClr val="CC5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−₹16.0M</a:t>
            </a: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 monthly revenue contribution — more than the chain's entire net decline of −₹15.5M.</a:t>
            </a:r>
            <a:endParaRPr lang="en-US" sz="1250" dirty="0"/>
          </a:p>
          <a:p>
            <a:pPr marL="0" indent="0" algn="l">
              <a:lnSpc>
                <a:spcPct val="101000"/>
              </a:lnSpc>
              <a:buNone/>
            </a:pPr>
            <a:r>
              <a:rPr lang="en-US" sz="12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Apparel's +₹3.4M gain and Personal Care's +₹0.1M partially offset the Electronics decline. Home &amp; Kitchen (−₹2.8M) and Grocery (−₹0.3M) contributed minor additional pressure.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0332" y="3632299"/>
            <a:ext cx="5236238" cy="921147"/>
          </a:xfrm>
          <a:prstGeom prst="roundRect">
            <a:avLst>
              <a:gd name="adj" fmla="val 7406"/>
            </a:avLst>
          </a:prstGeom>
          <a:solidFill>
            <a:srgbClr val="FFE0C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2749" y="3822601"/>
            <a:ext cx="202996" cy="16242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28163" y="3798491"/>
            <a:ext cx="4545990" cy="58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insight:</a:t>
            </a:r>
            <a:r>
              <a:rPr lang="en-US" sz="125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Other category growth partially offsets the Electronics decline, but not enough to prevent a net chain-wide monthly revenue drop.</a:t>
            </a:r>
            <a:endParaRPr lang="en-US" sz="125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DE94175-3003-36C3-3250-D2E07DB1A7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72691"/>
            <a:ext cx="1971427" cy="260152"/>
          </a:xfrm>
          <a:prstGeom prst="roundRect">
            <a:avLst>
              <a:gd name="adj" fmla="val 22124"/>
            </a:avLst>
          </a:prstGeom>
          <a:noFill/>
          <a:ln w="1270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4164" y="623987"/>
            <a:ext cx="2375634" cy="1575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PRODUCT INTELLIGENCE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61475" y="894854"/>
            <a:ext cx="10868745" cy="1280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850" kern="0" spc="-39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NO DEAD SKU — THE SIGNAL IS AT CATEGORY LEVEL</a:t>
            </a:r>
            <a:endParaRPr lang="en-US" sz="3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08138"/>
          <a:ext cx="10868744" cy="2498068"/>
        </p:xfrm>
        <a:graphic>
          <a:graphicData uri="http://schemas.openxmlformats.org/drawingml/2006/table">
            <a:tbl>
              <a:tblPr/>
              <a:tblGrid>
                <a:gridCol w="23911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63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16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63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16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216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42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Category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Top Product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Revenue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Bottom Product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Revenue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Gap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4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Electronics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Headphones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₹47.7M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Smart TV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₹41.9M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13.9%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4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Home &amp; Kitchen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Mixer Grinder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₹16.9M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Water Bottle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₹15.8M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6.8%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4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Apparel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Saree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₹14.2M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Kurta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₹13.6M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4.0%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40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Grocery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Rice (5kg)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₹8.6M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Sugar (1kg)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₹8.4M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2.2%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42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Personal Care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Shampoo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₹8.2M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Sunscreen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₹7.6M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67534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7.7%</a:t>
                      </a:r>
                      <a:endParaRPr lang="en-US" sz="1300" dirty="0">
                        <a:latin typeface="Montserrat" charset="0"/>
                        <a:ea typeface="Montserrat" charset="0"/>
                        <a:cs typeface="Montserrat" charset="0"/>
                      </a:endParaRPr>
                    </a:p>
                  </a:txBody>
                  <a:tcPr marL="171298" marR="171298" marT="6350" marB="6350" anchor="ctr">
                    <a:lnL w="12700" cap="flat" cmpd="sng" algn="ctr">
                      <a:solidFill>
                        <a:srgbClr val="FDF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E0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C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61475" y="5093593"/>
            <a:ext cx="10868745" cy="804863"/>
          </a:xfrm>
          <a:prstGeom prst="roundRect">
            <a:avLst>
              <a:gd name="adj" fmla="val 8939"/>
            </a:avLst>
          </a:prstGeom>
          <a:solidFill>
            <a:srgbClr val="FFE0C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722" y="5294015"/>
            <a:ext cx="214109" cy="171252"/>
          </a:xfrm>
          <a:prstGeom prst="rect">
            <a:avLst/>
          </a:prstGeom>
        </p:spPr>
      </p:pic>
      <p:sp>
        <p:nvSpPr>
          <p:cNvPr id="5" name="Text 4"/>
          <p:cNvSpPr/>
          <p:nvPr/>
        </p:nvSpPr>
        <p:spPr>
          <a:xfrm>
            <a:off x="1218078" y="5291534"/>
            <a:ext cx="10140895" cy="4244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Key insight: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No single product is dragging a category down. The actionable signal sits at </a:t>
            </a:r>
            <a:r>
              <a:rPr lang="en-US" sz="13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category level</a:t>
            </a:r>
            <a:r>
              <a:rPr lang="en-US" sz="13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rather than a single SKU — supplier discussions should focus on category momentum, not individual product cuts.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661475" y="6073080"/>
            <a:ext cx="11478330" cy="2122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MUC01 Retail Sales Dataset | Jan–Jun 2026</a:t>
            </a:r>
            <a:endParaRPr lang="en-US" sz="13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735BA0-EC80-704A-6AED-3119AE473B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9849"/>
            <a:ext cx="1245759" cy="161429"/>
          </a:xfrm>
          <a:prstGeom prst="roundRect">
            <a:avLst>
              <a:gd name="adj" fmla="val 22130"/>
            </a:avLst>
          </a:prstGeom>
          <a:noFill/>
          <a:ln w="635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5172" y="571698"/>
            <a:ext cx="1727951" cy="97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DISCOUNT INTELLIGENCE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661475" y="725190"/>
            <a:ext cx="10868745" cy="397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 kern="0" spc="-24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DISCOUNTS BUY NO EXTRA VOLUME</a:t>
            </a:r>
            <a:endParaRPr lang="en-US" sz="2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279525"/>
            <a:ext cx="5304697" cy="381843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165229"/>
            <a:ext cx="5914282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MUC01 Retail Sales Dataset | Jan–Jun 2026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6231873" y="1271984"/>
            <a:ext cx="5304697" cy="198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00" kern="0" spc="-12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Average Revenue per Transaction by Discount Level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31873" y="1530350"/>
            <a:ext cx="5914282" cy="107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 per transaction falls </a:t>
            </a:r>
            <a:r>
              <a:rPr lang="en-US" sz="800" b="1" dirty="0">
                <a:solidFill>
                  <a:srgbClr val="CC5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~22%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 discounts deepen — from ₹4,686 at 0% to ₹3,632 at 20%.</a:t>
            </a:r>
            <a:endParaRPr lang="en-US" sz="8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1873" y="1705570"/>
            <a:ext cx="5304697" cy="381843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31873" y="5591274"/>
            <a:ext cx="5304697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Units per transaction remain essentially flat at </a:t>
            </a: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~2.58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across all discount levels. The dataset shows </a:t>
            </a:r>
            <a:r>
              <a:rPr lang="en-US" sz="8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no meaningful volume response</a:t>
            </a:r>
            <a:r>
              <a:rPr lang="en-US" sz="8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as discounts deepen.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6231873" y="5874445"/>
            <a:ext cx="5304697" cy="376436"/>
          </a:xfrm>
          <a:prstGeom prst="roundRect">
            <a:avLst>
              <a:gd name="adj" fmla="val 11863"/>
            </a:avLst>
          </a:prstGeom>
          <a:solidFill>
            <a:srgbClr val="FFE0CC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8134" y="5960666"/>
            <a:ext cx="132851" cy="10626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577245" y="5954713"/>
            <a:ext cx="4853065" cy="215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800" b="1" dirty="0">
                <a:solidFill>
                  <a:srgbClr val="0000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Caveat:</a:t>
            </a:r>
            <a:r>
              <a:rPr lang="en-US" sz="8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Transaction data shows association, not causation. Profitability cannot be evaluated without cost/margin data.</a:t>
            </a:r>
            <a:endParaRPr lang="en-US" sz="8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F6DFD72-C7B9-1697-29CE-A99FCED4AF1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39353"/>
            <a:ext cx="922711" cy="170458"/>
          </a:xfrm>
          <a:prstGeom prst="roundRect">
            <a:avLst>
              <a:gd name="adj" fmla="val 22122"/>
            </a:avLst>
          </a:prstGeom>
          <a:noFill/>
          <a:ln w="6350">
            <a:solidFill>
              <a:srgbClr val="FF95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28743" y="572988"/>
            <a:ext cx="1397759" cy="1031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FF95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DEMAND TIMING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736402"/>
            <a:ext cx="10868745" cy="4193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500" kern="0" spc="-25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DEMAND IS WEEKEND-DRIVEN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330623"/>
            <a:ext cx="5297454" cy="381317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5218708"/>
            <a:ext cx="5907039" cy="116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Source: MUC01 Retail Sales Dataset | Jan–Jun 2026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6239116" y="1322288"/>
            <a:ext cx="5297454" cy="209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250" kern="0" spc="-13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Day-of-Week Revenue Pattern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239116" y="1598513"/>
            <a:ext cx="5297454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850" b="1" dirty="0">
                <a:solidFill>
                  <a:srgbClr val="CC5200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Saturday generates ~75% more revenue than Monday</a:t>
            </a: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(₹3.52M vs. ₹2.01M). Demand builds from Thursday, peaks Saturday, and softens into Sunday. Electronics follows the same weekend-skewed pattern as the chain.</a:t>
            </a:r>
            <a:endParaRPr lang="en-US" sz="8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9116" y="2021979"/>
            <a:ext cx="5297454" cy="381317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239116" y="5910064"/>
            <a:ext cx="5297454" cy="3485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6000"/>
              </a:lnSpc>
              <a:buNone/>
            </a:pPr>
            <a:r>
              <a:rPr lang="en-US" sz="8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Business implication:</a:t>
            </a: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Promotional timing should concentrate toward </a:t>
            </a:r>
            <a:r>
              <a:rPr lang="en-US" sz="85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Thu–Sun</a:t>
            </a:r>
            <a:r>
              <a:rPr lang="en-US" sz="85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rather than relying on broad mid-week discounting. The monthly decline trend reinforces the urgency of category-level action.</a:t>
            </a:r>
            <a:endParaRPr lang="en-US" sz="85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AF0FE49-3C06-CFBE-FE9E-3069B3531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80951"/>
            <a:ext cx="2370674" cy="251420"/>
          </a:xfrm>
          <a:prstGeom prst="roundRect">
            <a:avLst>
              <a:gd name="adj" fmla="val 22103"/>
            </a:avLst>
          </a:prstGeom>
          <a:solidFill>
            <a:srgbClr val="FFE0CC"/>
          </a:solidFill>
          <a:ln/>
        </p:spPr>
      </p:sp>
      <p:sp>
        <p:nvSpPr>
          <p:cNvPr id="3" name="Text 1"/>
          <p:cNvSpPr/>
          <p:nvPr/>
        </p:nvSpPr>
        <p:spPr>
          <a:xfrm>
            <a:off x="760691" y="830560"/>
            <a:ext cx="2781826" cy="152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CATEGORY MANAGER BRIEFING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090216"/>
            <a:ext cx="10868745" cy="1236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3700" kern="0" spc="-37" dirty="0">
                <a:solidFill>
                  <a:srgbClr val="532418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SUPPLIER REVIEW: WHAT WE WOULD TAKE INTO THE ROOM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661475" y="2543473"/>
            <a:ext cx="5362044" cy="1167507"/>
          </a:xfrm>
          <a:prstGeom prst="roundRect">
            <a:avLst>
              <a:gd name="adj" fmla="val 5950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5819" y="2727821"/>
            <a:ext cx="4993356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1. Back Apparel +34%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845819" y="3123605"/>
            <a:ext cx="499335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Only category with sustained momentum. Jan ₹10.0M → Jun ₹13.5M. Prioritize shelf space and promotional investment.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68176" y="2543473"/>
            <a:ext cx="5362044" cy="1167507"/>
          </a:xfrm>
          <a:prstGeom prst="roundRect">
            <a:avLst>
              <a:gd name="adj" fmla="val 5950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2520" y="2727821"/>
            <a:ext cx="4993356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2. Challenge Electronics −35%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6352520" y="3123605"/>
            <a:ext cx="499335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₹45.7M → ₹29.7M. −₹16.0M monthly revenue contribution change. Demand a recovery plan from the supplier.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1475" y="3855641"/>
            <a:ext cx="5362044" cy="1167507"/>
          </a:xfrm>
          <a:prstGeom prst="roundRect">
            <a:avLst>
              <a:gd name="adj" fmla="val 5950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19" y="4039989"/>
            <a:ext cx="4993356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3. Reconsider Mid-Week Discounting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845819" y="4435773"/>
            <a:ext cx="499335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2.59 → 2.58 units per transaction across all discount levels. Discounts do not appear to increase volume.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68176" y="3855641"/>
            <a:ext cx="5362044" cy="1167507"/>
          </a:xfrm>
          <a:prstGeom prst="roundRect">
            <a:avLst>
              <a:gd name="adj" fmla="val 5950"/>
            </a:avLst>
          </a:prstGeom>
          <a:solidFill>
            <a:srgbClr val="FFFFF4"/>
          </a:solidFill>
          <a:ln w="19050">
            <a:solidFill>
              <a:srgbClr val="FFE0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2520" y="4039989"/>
            <a:ext cx="4993356" cy="3089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850" kern="0" spc="-19" dirty="0">
                <a:solidFill>
                  <a:srgbClr val="67534F"/>
                </a:solidFill>
                <a:latin typeface="Marcellus" pitchFamily="34" charset="0"/>
                <a:ea typeface="Marcellus" pitchFamily="34" charset="-122"/>
                <a:cs typeface="Marcellus" pitchFamily="34" charset="-120"/>
              </a:rPr>
              <a:t>4. Request Cost Data Before Final Decision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6352520" y="4435773"/>
            <a:ext cx="4993356" cy="403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Revenue-only analysis cannot establish profitability. Request category-level COGS/margin data and ideally footfall data.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09516" y="5348585"/>
            <a:ext cx="11230289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67534F"/>
                </a:solidFill>
                <a:latin typeface="Montserrat Bold" pitchFamily="34" charset="0"/>
                <a:ea typeface="Montserrat Bold" pitchFamily="34" charset="-122"/>
                <a:cs typeface="Montserrat Bold" pitchFamily="34" charset="-120"/>
              </a:rPr>
              <a:t>"THE DATA DOES NOT POINT TO A SKU-CUTTING PROBLEM. IT POINTS TO A CATEGORY MOMENTUM PROBLEM."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61475" y="5185866"/>
            <a:ext cx="19050" cy="526951"/>
          </a:xfrm>
          <a:prstGeom prst="roundRect">
            <a:avLst>
              <a:gd name="adj" fmla="val 49999"/>
            </a:avLst>
          </a:prstGeom>
          <a:solidFill>
            <a:srgbClr val="FF954F"/>
          </a:solidFill>
          <a:ln/>
        </p:spPr>
      </p:sp>
      <p:sp>
        <p:nvSpPr>
          <p:cNvPr id="19" name="Text 17"/>
          <p:cNvSpPr/>
          <p:nvPr/>
        </p:nvSpPr>
        <p:spPr>
          <a:xfrm>
            <a:off x="661475" y="5875536"/>
            <a:ext cx="11478330" cy="201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1300" dirty="0">
                <a:solidFill>
                  <a:srgbClr val="6753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Calibo AI Academy | MUC01 Category Intelligence</a:t>
            </a:r>
            <a:endParaRPr lang="en-US" sz="13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354A165C-C4FD-7702-EDA1-4F2F1FC88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0013" y="6505526"/>
            <a:ext cx="2476846" cy="3524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929</Words>
  <Application>Microsoft Office PowerPoint</Application>
  <PresentationFormat>Widescreen</PresentationFormat>
  <Paragraphs>137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Montserrat</vt:lpstr>
      <vt:lpstr>Montserrat Bold</vt:lpstr>
      <vt:lpstr>Marcellus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nakul sriraj</dc:creator>
  <cp:lastModifiedBy>CHINDANUR NAKUL SRIRAJ</cp:lastModifiedBy>
  <cp:revision>2</cp:revision>
  <dcterms:created xsi:type="dcterms:W3CDTF">2026-09-17T05:31:44Z</dcterms:created>
  <dcterms:modified xsi:type="dcterms:W3CDTF">2026-09-17T05:37:22Z</dcterms:modified>
</cp:coreProperties>
</file>